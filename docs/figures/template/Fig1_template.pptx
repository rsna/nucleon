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12" autoAdjust="0"/>
    <p:restoredTop sz="94660"/>
  </p:normalViewPr>
  <p:slideViewPr>
    <p:cSldViewPr snapToGrid="0">
      <p:cViewPr varScale="1">
        <p:scale>
          <a:sx n="98" d="100"/>
          <a:sy n="98" d="100"/>
        </p:scale>
        <p:origin x="3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hn, Charles E" userId="0c91bf14-3b1b-45ee-af3a-acaa27e90003" providerId="ADAL" clId="{46072A4F-5FBA-426A-B1E4-2E4FF523C22E}"/>
    <pc:docChg chg="undo custSel modSld">
      <pc:chgData name="Kahn, Charles E" userId="0c91bf14-3b1b-45ee-af3a-acaa27e90003" providerId="ADAL" clId="{46072A4F-5FBA-426A-B1E4-2E4FF523C22E}" dt="2026-08-30T13:16:09.571" v="20" actId="1038"/>
      <pc:docMkLst>
        <pc:docMk/>
      </pc:docMkLst>
      <pc:sldChg chg="addSp delSp modSp mod">
        <pc:chgData name="Kahn, Charles E" userId="0c91bf14-3b1b-45ee-af3a-acaa27e90003" providerId="ADAL" clId="{46072A4F-5FBA-426A-B1E4-2E4FF523C22E}" dt="2026-08-30T13:16:09.571" v="20" actId="1038"/>
        <pc:sldMkLst>
          <pc:docMk/>
          <pc:sldMk cId="3616636823" sldId="256"/>
        </pc:sldMkLst>
        <pc:spChg chg="mod">
          <ac:chgData name="Kahn, Charles E" userId="0c91bf14-3b1b-45ee-af3a-acaa27e90003" providerId="ADAL" clId="{46072A4F-5FBA-426A-B1E4-2E4FF523C22E}" dt="2026-08-30T13:16:09.571" v="20" actId="1038"/>
          <ac:spMkLst>
            <pc:docMk/>
            <pc:sldMk cId="3616636823" sldId="256"/>
            <ac:spMk id="30" creationId="{3420350D-6CAC-0515-147D-E7D55C02A9C0}"/>
          </ac:spMkLst>
        </pc:spChg>
        <pc:spChg chg="add del mod">
          <ac:chgData name="Kahn, Charles E" userId="0c91bf14-3b1b-45ee-af3a-acaa27e90003" providerId="ADAL" clId="{46072A4F-5FBA-426A-B1E4-2E4FF523C22E}" dt="2026-08-30T13:16:02.018" v="12" actId="1038"/>
          <ac:spMkLst>
            <pc:docMk/>
            <pc:sldMk cId="3616636823" sldId="256"/>
            <ac:spMk id="42" creationId="{212310AC-58F7-EDBB-36FC-2364470A6BA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A19F0-19B1-56F9-EA29-E875CB2EA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09E46-E2A3-C301-1EFC-A61083C50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0EA47-7672-38EB-04B1-88A3CB11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90D3A-C847-0C98-8B83-43B10007F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0F2A9-6E19-8A99-B1AF-8AFE3B63B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640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AA06A-292E-8C89-5D6B-C569FE71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868C8-679A-47DE-D973-8A8A2FF19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6F980-9BA9-7F4C-ADAF-4415ED6C1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40626-2CB5-EF3A-1075-0DF541995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E52FD-C73F-C850-B5B1-8F5024DD4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28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055-E29E-2FD9-561C-76EC07F2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2BB84-6809-0EA1-D96A-DDAAF1A30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79598-C4AF-ADCF-E71E-60378CE8A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D541A-1A8E-CB2E-FE41-28504E3FC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8A953-C146-8455-C80A-D005BBC26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31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239C7-CABE-AA51-6D22-FE63B23F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750F2-6192-9567-46EC-45AB3E332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BFFD2-0E01-E050-BBE2-612F039ED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6EE47-1B31-59F8-6105-201A80B7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A0B69-B4A0-0655-E2FC-AB492BFFC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0E952-0B65-7444-0412-79E79691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597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7BB5-40C3-2626-98FA-DEABBD1E3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F313D-7A3F-4092-71BB-31DB9CBB5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69A36-0C3A-0469-B657-45A14A39E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2F51B8-0321-79F2-8E93-403B97A1F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5CD34A-9863-F59F-9F3B-693473ABE3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4A2544-EC58-BD0C-5DB8-76DF3A43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9F8667-9AAA-8399-4186-0A1BA3911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85BB84-4351-EB79-5904-1492AC044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12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7D0F-CF58-7953-4687-AAD510397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FA7FA7-FB9F-0451-E374-9843B444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FB747-6387-8E7E-6CF7-DA058242E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CE4211-4FC2-784B-AB82-F2254727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951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72BD9C-68AC-AAAB-C2BA-8F09812B5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4B4DD4-B109-FC85-8786-4E2FB4487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49AD5-BECE-B5DC-82B8-237CF2A2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96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32EAA-A526-AE6C-CF14-B5C4AB7CE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E8E28-3E4F-0077-CCD2-C1ECD1162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CF4B5-EE02-FCA8-E74F-9FF3BC5F8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12CFC-3495-61D5-C037-35A993E83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E637B-5460-FCB5-B67B-E40E9C264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D6D42-9B3E-0F5E-B7DA-6B9D7F6B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95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94034-C7EF-8706-A3F1-F82040EA3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432A66-EFA7-4F0E-5544-327620712F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072B5-A748-7704-408E-E23996155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895CA-9836-05F3-1903-F5E641B20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3C903-345F-2855-DB18-6AA4B2F2A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3E4FF-E2DC-444D-427E-8B42017C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30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4720F-E59F-8CD5-7215-1B7EC4D20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4D2D5-F692-A131-7E8F-46DAA6754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93021-2C68-4179-8C78-33322F1C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28EF0-7FDB-7428-ED64-B64F857DE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6CDC0-1CDC-6865-02D7-5A0D83AA4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11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56BF78-87B6-F41A-64AC-C72EF9A0C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FED44-8B0C-C9FE-4457-07BF77D23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C0EAB-3C61-B421-A828-933BEAA2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95E48-43D4-C115-4AEA-7EBE2D2CC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6E5C3-FB7C-84EA-1D80-EE5BF7288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09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B16EEA-C1D6-2670-557C-A98EE8BF5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6EED5-8D62-19F9-B138-E9C2B7CD7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92196-85FE-C6BC-5596-4C1F379880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E53FC-9610-FD86-504F-6CEB265F6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A67BC-2B1D-974D-C127-C6CF11C100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18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ACD99F-487D-1D69-F516-D34168C8ED48}"/>
              </a:ext>
            </a:extLst>
          </p:cNvPr>
          <p:cNvSpPr/>
          <p:nvPr/>
        </p:nvSpPr>
        <p:spPr>
          <a:xfrm>
            <a:off x="1186774" y="690655"/>
            <a:ext cx="27432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1"/>
              <a:t>:Element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826F13-1D68-3419-AB5E-A129E8FEAF5A}"/>
              </a:ext>
            </a:extLst>
          </p:cNvPr>
          <p:cNvSpPr/>
          <p:nvPr/>
        </p:nvSpPr>
        <p:spPr>
          <a:xfrm>
            <a:off x="1186774" y="1147856"/>
            <a:ext cx="2743200" cy="7490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noProof="1">
                <a:solidFill>
                  <a:schemeClr val="tx1"/>
                </a:solidFill>
              </a:rPr>
              <a:t>:atomicNumber</a:t>
            </a:r>
          </a:p>
          <a:p>
            <a:r>
              <a:rPr lang="en-US" sz="1400" noProof="1">
                <a:solidFill>
                  <a:schemeClr val="tx1"/>
                </a:solidFill>
              </a:rPr>
              <a:t>:groupNumber</a:t>
            </a:r>
          </a:p>
          <a:p>
            <a:r>
              <a:rPr lang="en-US" sz="1400" noProof="1">
                <a:solidFill>
                  <a:schemeClr val="tx1"/>
                </a:solidFill>
              </a:rPr>
              <a:t>:periodNumber</a:t>
            </a:r>
            <a:endParaRPr lang="en-US" noProof="1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C573F1-929B-BF5B-3ABE-20ED87908263}"/>
              </a:ext>
            </a:extLst>
          </p:cNvPr>
          <p:cNvSpPr/>
          <p:nvPr/>
        </p:nvSpPr>
        <p:spPr>
          <a:xfrm>
            <a:off x="1186774" y="1896886"/>
            <a:ext cx="2743200" cy="3307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i="1" noProof="1">
                <a:solidFill>
                  <a:schemeClr val="bg1">
                    <a:lumMod val="50000"/>
                  </a:schemeClr>
                </a:solidFill>
              </a:rPr>
              <a:t>skos:exactMatch </a:t>
            </a:r>
            <a:r>
              <a:rPr lang="en-US" sz="1200" i="1" noProof="1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→ OCE, SNOMED CT</a:t>
            </a:r>
            <a:endParaRPr lang="en-US" sz="1600" i="1" noProof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1B93BE-82E7-64DD-2DD7-11B78490FDB2}"/>
              </a:ext>
            </a:extLst>
          </p:cNvPr>
          <p:cNvSpPr/>
          <p:nvPr/>
        </p:nvSpPr>
        <p:spPr>
          <a:xfrm>
            <a:off x="6890428" y="690655"/>
            <a:ext cx="27432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1"/>
              <a:t>:Nuclide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A1DD84-0674-A2D5-4319-E8D4213958B7}"/>
              </a:ext>
            </a:extLst>
          </p:cNvPr>
          <p:cNvSpPr/>
          <p:nvPr/>
        </p:nvSpPr>
        <p:spPr>
          <a:xfrm>
            <a:off x="6890428" y="1147855"/>
            <a:ext cx="2743200" cy="20758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noProof="1">
                <a:solidFill>
                  <a:schemeClr val="tx1"/>
                </a:solidFill>
              </a:rPr>
              <a:t>:atomicNumber</a:t>
            </a:r>
          </a:p>
          <a:p>
            <a:r>
              <a:rPr lang="en-US" sz="1400" noProof="1">
                <a:solidFill>
                  <a:schemeClr val="tx1"/>
                </a:solidFill>
              </a:rPr>
              <a:t>:massNumber</a:t>
            </a:r>
          </a:p>
          <a:p>
            <a:r>
              <a:rPr lang="en-US" sz="1400" noProof="1">
                <a:solidFill>
                  <a:schemeClr val="tx1"/>
                </a:solidFill>
              </a:rPr>
              <a:t>:neutronNumber</a:t>
            </a:r>
          </a:p>
          <a:p>
            <a:r>
              <a:rPr lang="en-US" sz="1400" noProof="1">
                <a:solidFill>
                  <a:schemeClr val="tx1"/>
                </a:solidFill>
              </a:rPr>
              <a:t>:metastableState</a:t>
            </a:r>
          </a:p>
          <a:p>
            <a:r>
              <a:rPr lang="en-US" sz="1400" noProof="1">
                <a:solidFill>
                  <a:schemeClr val="tx1"/>
                </a:solidFill>
              </a:rPr>
              <a:t>:isStable</a:t>
            </a:r>
          </a:p>
          <a:p>
            <a:r>
              <a:rPr lang="en-US" sz="1400" noProof="1">
                <a:solidFill>
                  <a:schemeClr val="tx1"/>
                </a:solidFill>
              </a:rPr>
              <a:t>:halfLife</a:t>
            </a:r>
          </a:p>
          <a:p>
            <a:r>
              <a:rPr lang="en-US" sz="1400" noProof="1">
                <a:solidFill>
                  <a:schemeClr val="tx1"/>
                </a:solidFill>
              </a:rPr>
              <a:t>:naturalAbundance</a:t>
            </a:r>
          </a:p>
          <a:p>
            <a:r>
              <a:rPr lang="en-US" sz="1400" noProof="1">
                <a:solidFill>
                  <a:schemeClr val="tx1"/>
                </a:solidFill>
              </a:rPr>
              <a:t>:isMedicalIsotope</a:t>
            </a:r>
          </a:p>
          <a:p>
            <a:r>
              <a:rPr lang="en-US" sz="1400" noProof="1">
                <a:solidFill>
                  <a:schemeClr val="tx1"/>
                </a:solidFill>
              </a:rPr>
              <a:t>:decayWidthValue / -Unit</a:t>
            </a:r>
            <a:endParaRPr lang="en-US" noProof="1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13B91B-D1B3-C256-AECB-B47BCFE98268}"/>
              </a:ext>
            </a:extLst>
          </p:cNvPr>
          <p:cNvSpPr/>
          <p:nvPr/>
        </p:nvSpPr>
        <p:spPr>
          <a:xfrm>
            <a:off x="6890428" y="3223696"/>
            <a:ext cx="2743200" cy="10715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i="1" noProof="1">
                <a:solidFill>
                  <a:schemeClr val="bg1">
                    <a:lumMod val="50000"/>
                  </a:schemeClr>
                </a:solidFill>
              </a:rPr>
              <a:t>:halfLifeValue / -Unit</a:t>
            </a:r>
          </a:p>
          <a:p>
            <a:r>
              <a:rPr lang="en-US" sz="1200" i="1" noProof="1">
                <a:solidFill>
                  <a:schemeClr val="bg1">
                    <a:lumMod val="50000"/>
                  </a:schemeClr>
                </a:solidFill>
              </a:rPr>
              <a:t>:spinParity</a:t>
            </a:r>
          </a:p>
          <a:p>
            <a:r>
              <a:rPr lang="en-US" sz="1200" i="1" noProof="1">
                <a:solidFill>
                  <a:schemeClr val="bg1">
                    <a:lumMod val="50000"/>
                  </a:schemeClr>
                </a:solidFill>
              </a:rPr>
              <a:t>:decayModeOrAbundance</a:t>
            </a:r>
          </a:p>
          <a:p>
            <a:r>
              <a:rPr lang="en-US" sz="1200" i="1" noProof="1">
                <a:solidFill>
                  <a:schemeClr val="bg1">
                    <a:lumMod val="50000"/>
                  </a:schemeClr>
                </a:solidFill>
              </a:rPr>
              <a:t>:dicomCode / -ContextGroup</a:t>
            </a:r>
          </a:p>
          <a:p>
            <a:r>
              <a:rPr lang="en-US" sz="1200" i="1" noProof="1">
                <a:solidFill>
                  <a:schemeClr val="bg1">
                    <a:lumMod val="50000"/>
                  </a:schemeClr>
                </a:solidFill>
              </a:rPr>
              <a:t>skos:exactMatch </a:t>
            </a:r>
            <a:r>
              <a:rPr lang="en-US" sz="1200" i="1" noProof="1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→ SNOMED CT</a:t>
            </a:r>
            <a:endParaRPr lang="en-US" sz="1600" i="1" noProof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E1A5189-5206-F488-2B89-2B457C2C124A}"/>
              </a:ext>
            </a:extLst>
          </p:cNvPr>
          <p:cNvCxnSpPr>
            <a:cxnSpLocks/>
          </p:cNvCxnSpPr>
          <p:nvPr/>
        </p:nvCxnSpPr>
        <p:spPr>
          <a:xfrm>
            <a:off x="3929974" y="1029209"/>
            <a:ext cx="2960454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715C59D-9EA2-ECA8-43E5-406DE12585A7}"/>
              </a:ext>
            </a:extLst>
          </p:cNvPr>
          <p:cNvSpPr txBox="1"/>
          <p:nvPr/>
        </p:nvSpPr>
        <p:spPr>
          <a:xfrm>
            <a:off x="4780862" y="690655"/>
            <a:ext cx="12586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:hasNuclide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BA006F-7858-C01E-52D8-A811127BDD41}"/>
              </a:ext>
            </a:extLst>
          </p:cNvPr>
          <p:cNvCxnSpPr>
            <a:cxnSpLocks/>
          </p:cNvCxnSpPr>
          <p:nvPr/>
        </p:nvCxnSpPr>
        <p:spPr>
          <a:xfrm>
            <a:off x="3929974" y="1517187"/>
            <a:ext cx="2960454" cy="0"/>
          </a:xfrm>
          <a:prstGeom prst="straightConnector1">
            <a:avLst/>
          </a:prstGeom>
          <a:ln w="571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B3103EE-ACED-C096-B586-6176C1B4A24C}"/>
              </a:ext>
            </a:extLst>
          </p:cNvPr>
          <p:cNvSpPr txBox="1"/>
          <p:nvPr/>
        </p:nvSpPr>
        <p:spPr>
          <a:xfrm>
            <a:off x="4760825" y="1561976"/>
            <a:ext cx="1298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:isNuclideOf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20DA4E-6229-513E-654E-43C06676496F}"/>
              </a:ext>
            </a:extLst>
          </p:cNvPr>
          <p:cNvSpPr/>
          <p:nvPr/>
        </p:nvSpPr>
        <p:spPr>
          <a:xfrm>
            <a:off x="6890428" y="5164870"/>
            <a:ext cx="27432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1"/>
              <a:t>:DecayBranch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8869FF-5D14-E06A-866A-0FDEAF7F7DCE}"/>
              </a:ext>
            </a:extLst>
          </p:cNvPr>
          <p:cNvSpPr/>
          <p:nvPr/>
        </p:nvSpPr>
        <p:spPr>
          <a:xfrm>
            <a:off x="6890428" y="5622071"/>
            <a:ext cx="2743200" cy="7490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noProof="1">
                <a:solidFill>
                  <a:schemeClr val="tx1"/>
                </a:solidFill>
              </a:rPr>
              <a:t>:branchingRatio</a:t>
            </a:r>
          </a:p>
          <a:p>
            <a:r>
              <a:rPr lang="en-US" sz="1400" noProof="1">
                <a:solidFill>
                  <a:schemeClr val="tx1"/>
                </a:solidFill>
              </a:rPr>
              <a:t>:decayEnergy</a:t>
            </a:r>
          </a:p>
          <a:p>
            <a:r>
              <a:rPr lang="en-US" sz="1400" noProof="1">
                <a:solidFill>
                  <a:schemeClr val="tx1"/>
                </a:solidFill>
              </a:rPr>
              <a:t>:partialHalfLife</a:t>
            </a:r>
            <a:endParaRPr lang="en-US" noProof="1">
              <a:solidFill>
                <a:schemeClr val="tx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E5B12F-FBED-6070-9735-186FCCBA5C50}"/>
              </a:ext>
            </a:extLst>
          </p:cNvPr>
          <p:cNvCxnSpPr>
            <a:cxnSpLocks/>
            <a:stCxn id="13" idx="2"/>
            <a:endCxn id="21" idx="0"/>
          </p:cNvCxnSpPr>
          <p:nvPr/>
        </p:nvCxnSpPr>
        <p:spPr>
          <a:xfrm>
            <a:off x="8262028" y="4295260"/>
            <a:ext cx="0" cy="86961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420350D-6CAC-0515-147D-E7D55C02A9C0}"/>
              </a:ext>
            </a:extLst>
          </p:cNvPr>
          <p:cNvSpPr txBox="1"/>
          <p:nvPr/>
        </p:nvSpPr>
        <p:spPr>
          <a:xfrm>
            <a:off x="6467611" y="4560788"/>
            <a:ext cx="1752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solidFill>
                  <a:srgbClr val="C00000"/>
                </a:solidFill>
              </a:rPr>
              <a:t>:hasDecayBranch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75E18D-C272-2B12-905D-128BB6464F76}"/>
              </a:ext>
            </a:extLst>
          </p:cNvPr>
          <p:cNvSpPr/>
          <p:nvPr/>
        </p:nvSpPr>
        <p:spPr>
          <a:xfrm>
            <a:off x="1186774" y="5164870"/>
            <a:ext cx="27432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1"/>
              <a:t>:DecayMode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C1CFC8-2813-2F29-CD76-6EAE943B8411}"/>
              </a:ext>
            </a:extLst>
          </p:cNvPr>
          <p:cNvSpPr/>
          <p:nvPr/>
        </p:nvSpPr>
        <p:spPr>
          <a:xfrm>
            <a:off x="1186774" y="5622071"/>
            <a:ext cx="2743200" cy="5924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noProof="1">
                <a:solidFill>
                  <a:schemeClr val="tx1"/>
                </a:solidFill>
              </a:rPr>
              <a:t>:changeInAtomicNumber</a:t>
            </a:r>
          </a:p>
          <a:p>
            <a:r>
              <a:rPr lang="en-US" sz="1400" noProof="1">
                <a:solidFill>
                  <a:schemeClr val="tx1"/>
                </a:solidFill>
              </a:rPr>
              <a:t>:changeInMassNumber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D5C3A63-47B5-5F92-0F24-FA6BEEE74CE7}"/>
              </a:ext>
            </a:extLst>
          </p:cNvPr>
          <p:cNvCxnSpPr>
            <a:cxnSpLocks/>
          </p:cNvCxnSpPr>
          <p:nvPr/>
        </p:nvCxnSpPr>
        <p:spPr>
          <a:xfrm>
            <a:off x="3909936" y="5755812"/>
            <a:ext cx="2960454" cy="0"/>
          </a:xfrm>
          <a:prstGeom prst="straightConnector1">
            <a:avLst/>
          </a:prstGeom>
          <a:ln w="571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39450EF-0ACB-B52A-19DB-E7A3935724E2}"/>
              </a:ext>
            </a:extLst>
          </p:cNvPr>
          <p:cNvSpPr txBox="1"/>
          <p:nvPr/>
        </p:nvSpPr>
        <p:spPr>
          <a:xfrm>
            <a:off x="4599626" y="5372470"/>
            <a:ext cx="16211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:hasDecayMode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AD8228E-EF47-138D-2C3D-B6551A08E58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30867" y="2860001"/>
            <a:ext cx="4718612" cy="1073010"/>
          </a:xfrm>
          <a:prstGeom prst="bentConnector3">
            <a:avLst>
              <a:gd name="adj1" fmla="val 595"/>
            </a:avLst>
          </a:prstGeom>
          <a:ln w="57150"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12310AC-58F7-EDBB-36FC-2364470A6BA4}"/>
              </a:ext>
            </a:extLst>
          </p:cNvPr>
          <p:cNvSpPr txBox="1"/>
          <p:nvPr/>
        </p:nvSpPr>
        <p:spPr>
          <a:xfrm>
            <a:off x="8888261" y="4560788"/>
            <a:ext cx="1823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solidFill>
                  <a:srgbClr val="C00000"/>
                </a:solidFill>
              </a:rPr>
              <a:t>:hasDecayProduct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A18FD61-82B2-FF77-0D9B-85969C1D392A}"/>
              </a:ext>
            </a:extLst>
          </p:cNvPr>
          <p:cNvCxnSpPr>
            <a:cxnSpLocks/>
          </p:cNvCxnSpPr>
          <p:nvPr/>
        </p:nvCxnSpPr>
        <p:spPr>
          <a:xfrm>
            <a:off x="9633628" y="1037199"/>
            <a:ext cx="1115335" cy="0"/>
          </a:xfrm>
          <a:prstGeom prst="straightConnector1">
            <a:avLst/>
          </a:prstGeom>
          <a:ln w="571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636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83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Kahn, Charles E</dc:creator>
  <cp:lastModifiedBy>Kahn, Charles E</cp:lastModifiedBy>
  <cp:revision>1</cp:revision>
  <dcterms:created xsi:type="dcterms:W3CDTF">2026-08-30T12:37:46Z</dcterms:created>
  <dcterms:modified xsi:type="dcterms:W3CDTF">2026-08-30T13:16:14Z</dcterms:modified>
</cp:coreProperties>
</file>