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12" autoAdjust="0"/>
    <p:restoredTop sz="94660"/>
  </p:normalViewPr>
  <p:slideViewPr>
    <p:cSldViewPr snapToGrid="0">
      <p:cViewPr varScale="1">
        <p:scale>
          <a:sx n="98" d="100"/>
          <a:sy n="98" d="100"/>
        </p:scale>
        <p:origin x="3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hn, Charles E" userId="0c91bf14-3b1b-45ee-af3a-acaa27e90003" providerId="ADAL" clId="{46072A4F-5FBA-426A-B1E4-2E4FF523C22E}"/>
    <pc:docChg chg="undo custSel modSld">
      <pc:chgData name="Kahn, Charles E" userId="0c91bf14-3b1b-45ee-af3a-acaa27e90003" providerId="ADAL" clId="{46072A4F-5FBA-426A-B1E4-2E4FF523C22E}" dt="2026-08-30T13:16:09.571" v="20" actId="1038"/>
      <pc:docMkLst>
        <pc:docMk/>
      </pc:docMkLst>
      <pc:sldChg chg="addSp delSp modSp mod">
        <pc:chgData name="Kahn, Charles E" userId="0c91bf14-3b1b-45ee-af3a-acaa27e90003" providerId="ADAL" clId="{46072A4F-5FBA-426A-B1E4-2E4FF523C22E}" dt="2026-08-30T13:16:09.571" v="20" actId="1038"/>
        <pc:sldMkLst>
          <pc:docMk/>
          <pc:sldMk cId="3616636823" sldId="256"/>
        </pc:sldMkLst>
        <pc:spChg chg="mod">
          <ac:chgData name="Kahn, Charles E" userId="0c91bf14-3b1b-45ee-af3a-acaa27e90003" providerId="ADAL" clId="{46072A4F-5FBA-426A-B1E4-2E4FF523C22E}" dt="2026-08-30T13:16:09.571" v="20" actId="1038"/>
          <ac:spMkLst>
            <pc:docMk/>
            <pc:sldMk cId="3616636823" sldId="256"/>
            <ac:spMk id="30" creationId="{3420350D-6CAC-0515-147D-E7D55C02A9C0}"/>
          </ac:spMkLst>
        </pc:spChg>
        <pc:spChg chg="add del mod">
          <ac:chgData name="Kahn, Charles E" userId="0c91bf14-3b1b-45ee-af3a-acaa27e90003" providerId="ADAL" clId="{46072A4F-5FBA-426A-B1E4-2E4FF523C22E}" dt="2026-08-30T13:16:02.018" v="12" actId="1038"/>
          <ac:spMkLst>
            <pc:docMk/>
            <pc:sldMk cId="3616636823" sldId="256"/>
            <ac:spMk id="42" creationId="{212310AC-58F7-EDBB-36FC-2364470A6BA4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19F0-19B1-56F9-EA29-E875CB2EA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09E46-E2A3-C301-1EFC-A61083C50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0EA47-7672-38EB-04B1-88A3CB11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90D3A-C847-0C98-8B83-43B10007F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0F2A9-6E19-8A99-B1AF-8AFE3B63B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640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AA06A-292E-8C89-5D6B-C569FE71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868C8-679A-47DE-D973-8A8A2FF19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6F980-9BA9-7F4C-ADAF-4415ED6C1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40626-2CB5-EF3A-1075-0DF54199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E52FD-C73F-C850-B5B1-8F5024DD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28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055-E29E-2FD9-561C-76EC07F2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2BB84-6809-0EA1-D96A-DDAAF1A30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79598-C4AF-ADCF-E71E-60378CE8A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D541A-1A8E-CB2E-FE41-28504E3FC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8A953-C146-8455-C80A-D005BBC26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3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39C7-CABE-AA51-6D22-FE63B23F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750F2-6192-9567-46EC-45AB3E332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BFFD2-0E01-E050-BBE2-612F039ED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6EE47-1B31-59F8-6105-201A80B7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A0B69-B4A0-0655-E2FC-AB492BFF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0E952-0B65-7444-0412-79E79691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59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7BB5-40C3-2626-98FA-DEABBD1E3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F313D-7A3F-4092-71BB-31DB9CBB5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69A36-0C3A-0469-B657-45A14A39E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2F51B8-0321-79F2-8E93-403B97A1F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5CD34A-9863-F59F-9F3B-693473ABE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4A2544-EC58-BD0C-5DB8-76DF3A43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F8667-9AAA-8399-4186-0A1BA3911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85BB84-4351-EB79-5904-1492AC04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12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7D0F-CF58-7953-4687-AAD510397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FA7FA7-FB9F-0451-E374-9843B444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FB747-6387-8E7E-6CF7-DA058242E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E4211-4FC2-784B-AB82-F2254727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95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2BD9C-68AC-AAAB-C2BA-8F09812B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4B4DD4-B109-FC85-8786-4E2FB448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49AD5-BECE-B5DC-82B8-237CF2A2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96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2EAA-A526-AE6C-CF14-B5C4AB7CE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E8E28-3E4F-0077-CCD2-C1ECD1162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CF4B5-EE02-FCA8-E74F-9FF3BC5F8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12CFC-3495-61D5-C037-35A993E8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E637B-5460-FCB5-B67B-E40E9C264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D6D42-9B3E-0F5E-B7DA-6B9D7F6B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95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94034-C7EF-8706-A3F1-F82040EA3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32A66-EFA7-4F0E-5544-327620712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072B5-A748-7704-408E-E23996155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895CA-9836-05F3-1903-F5E641B2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3C903-345F-2855-DB18-6AA4B2F2A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3E4FF-E2DC-444D-427E-8B42017C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3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720F-E59F-8CD5-7215-1B7EC4D2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4D2D5-F692-A131-7E8F-46DAA6754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93021-2C68-4179-8C78-33322F1C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28EF0-7FDB-7428-ED64-B64F857D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6CDC0-1CDC-6865-02D7-5A0D83AA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11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6BF78-87B6-F41A-64AC-C72EF9A0C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FED44-8B0C-C9FE-4457-07BF77D23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C0EAB-3C61-B421-A828-933BEAA2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95E48-43D4-C115-4AEA-7EBE2D2CC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6E5C3-FB7C-84EA-1D80-EE5BF7288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0912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B16EEA-C1D6-2670-557C-A98EE8BF5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6EED5-8D62-19F9-B138-E9C2B7CD7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92196-85FE-C6BC-5596-4C1F37988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1534E-8B4B-4144-B126-14FA26B53353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E53FC-9610-FD86-504F-6CEB265F6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A67BC-2B1D-974D-C127-C6CF11C10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E871C-1E4E-41CA-8129-41CD8BCA3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18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 100"/>
          <p:cNvSpPr/>
          <p:nvPr/>
        </p:nvSpPr>
        <p:spPr>
          <a:xfrm>
            <a:off x="563880" y="411480"/>
            <a:ext cx="256032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:Element</a:t>
            </a:r>
          </a:p>
        </p:txBody>
      </p:sp>
      <p:sp>
        <p:nvSpPr>
          <p:cNvPr id="101" name="body 101"/>
          <p:cNvSpPr/>
          <p:nvPr/>
        </p:nvSpPr>
        <p:spPr>
          <a:xfrm>
            <a:off x="563880" y="868680"/>
            <a:ext cx="2560320" cy="7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noProof="1">
                <a:solidFill>
                  <a:schemeClr val="tx1"/>
                </a:solidFill>
              </a:rPr>
              <a:t>:atomicNumber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:groupNumber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:periodNumber</a:t>
            </a:r>
            <a:endParaRPr lang="en-US" noProof="1" sz="1400">
              <a:solidFill>
                <a:schemeClr val="tx1"/>
              </a:solidFill>
            </a:endParaRPr>
          </a:p>
        </p:txBody>
      </p:sp>
      <p:sp>
        <p:nvSpPr>
          <p:cNvPr id="102" name="annot 102"/>
          <p:cNvSpPr/>
          <p:nvPr/>
        </p:nvSpPr>
        <p:spPr>
          <a:xfrm>
            <a:off x="563880" y="1626680"/>
            <a:ext cx="2560320" cy="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skos:exactMatch </a:t>
            </a:r>
            <a:r>
              <a:rPr lang="en-US" sz="1200" i="1" noProof="1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200" i="1" noProof="1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      OCE, SNOMED CT</a:t>
            </a:r>
            <a:endParaRPr lang="en-US" sz="1200" i="1" noProof="1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rdfs:seeAlso </a:t>
            </a:r>
            <a:r>
              <a:rPr lang="en-US" sz="1200" i="1" noProof="1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→ PubChem</a:t>
            </a:r>
            <a:endParaRPr lang="en-US" sz="1200" i="1" noProof="1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skos:altLabel (7 languages)</a:t>
            </a:r>
            <a:endParaRPr lang="en-US" sz="1200" i="1" noProof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header 103"/>
          <p:cNvSpPr/>
          <p:nvPr/>
        </p:nvSpPr>
        <p:spPr>
          <a:xfrm>
            <a:off x="4815840" y="411480"/>
            <a:ext cx="256032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:Nuclide</a:t>
            </a:r>
          </a:p>
        </p:txBody>
      </p:sp>
      <p:sp>
        <p:nvSpPr>
          <p:cNvPr id="104" name="body 104"/>
          <p:cNvSpPr/>
          <p:nvPr/>
        </p:nvSpPr>
        <p:spPr>
          <a:xfrm>
            <a:off x="4815840" y="868680"/>
            <a:ext cx="2560320" cy="211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noProof="1">
                <a:solidFill>
                  <a:schemeClr val="tx1"/>
                </a:solidFill>
              </a:rPr>
              <a:t>:atomicNumber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:massNumber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:neutronNumber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:metastableState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:excitationEnergy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:isStable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:halfLife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:naturalAbundance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:decayWidthValue / -Unit</a:t>
            </a:r>
            <a:endParaRPr lang="en-US" noProof="1" sz="1400">
              <a:solidFill>
                <a:schemeClr val="tx1"/>
              </a:solidFill>
            </a:endParaRPr>
          </a:p>
        </p:txBody>
      </p:sp>
      <p:sp>
        <p:nvSpPr>
          <p:cNvPr id="105" name="annot 105"/>
          <p:cNvSpPr/>
          <p:nvPr/>
        </p:nvSpPr>
        <p:spPr>
          <a:xfrm>
            <a:off x="4815840" y="2982680"/>
            <a:ext cx="2560320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:halfLifeValue / -Unit</a:t>
            </a:r>
            <a:endParaRPr lang="en-US" sz="1200" i="1" noProof="1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:spinParity</a:t>
            </a:r>
            <a:endParaRPr lang="en-US" sz="1200" i="1" noProof="1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:dicomCode / -ContextGroup</a:t>
            </a:r>
            <a:endParaRPr lang="en-US" sz="1200" i="1" noProof="1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skos:exactMatch </a:t>
            </a:r>
            <a:r>
              <a:rPr lang="en-US" sz="1200" i="1" noProof="1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200" i="1" noProof="1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      SNOMED CT, MeSH</a:t>
            </a:r>
            <a:endParaRPr lang="en-US" sz="1200" i="1" noProof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header 106"/>
          <p:cNvSpPr/>
          <p:nvPr/>
        </p:nvSpPr>
        <p:spPr>
          <a:xfrm>
            <a:off x="9067800" y="411480"/>
            <a:ext cx="256032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:Emission</a:t>
            </a:r>
          </a:p>
        </p:txBody>
      </p:sp>
      <p:sp>
        <p:nvSpPr>
          <p:cNvPr id="107" name="body 107"/>
          <p:cNvSpPr/>
          <p:nvPr/>
        </p:nvSpPr>
        <p:spPr>
          <a:xfrm>
            <a:off x="9067800" y="868680"/>
            <a:ext cx="2560320" cy="5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noProof="1">
                <a:solidFill>
                  <a:schemeClr val="tx1"/>
                </a:solidFill>
              </a:rPr>
              <a:t>:emissionEnergy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:emissionYield</a:t>
            </a:r>
            <a:endParaRPr lang="en-US" noProof="1" sz="1400">
              <a:solidFill>
                <a:schemeClr val="tx1"/>
              </a:solidFill>
            </a:endParaRPr>
          </a:p>
        </p:txBody>
      </p:sp>
      <p:sp>
        <p:nvSpPr>
          <p:cNvPr id="108" name="header 108"/>
          <p:cNvSpPr/>
          <p:nvPr/>
        </p:nvSpPr>
        <p:spPr>
          <a:xfrm>
            <a:off x="9067800" y="2269360"/>
            <a:ext cx="256032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:RadiationType</a:t>
            </a:r>
          </a:p>
        </p:txBody>
      </p:sp>
      <p:sp>
        <p:nvSpPr>
          <p:cNvPr id="109" name="annot 109"/>
          <p:cNvSpPr/>
          <p:nvPr/>
        </p:nvSpPr>
        <p:spPr>
          <a:xfrm>
            <a:off x="9067800" y="2726560"/>
            <a:ext cx="2560320" cy="2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noProof="1">
                <a:solidFill>
                  <a:schemeClr val="bg1">
                    <a:lumMod val="50000"/>
                  </a:schemeClr>
                </a:solidFill>
              </a:rPr>
              <a:t>skos:notation (ICRP-107 code)</a:t>
            </a:r>
            <a:endParaRPr lang="en-US" sz="1200" i="1" noProof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header 110"/>
          <p:cNvSpPr/>
          <p:nvPr/>
        </p:nvSpPr>
        <p:spPr>
          <a:xfrm>
            <a:off x="4815840" y="4931360"/>
            <a:ext cx="256032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:DecayBranch</a:t>
            </a:r>
          </a:p>
        </p:txBody>
      </p:sp>
      <p:sp>
        <p:nvSpPr>
          <p:cNvPr id="111" name="body 111"/>
          <p:cNvSpPr/>
          <p:nvPr/>
        </p:nvSpPr>
        <p:spPr>
          <a:xfrm>
            <a:off x="4815840" y="5388560"/>
            <a:ext cx="2560320" cy="5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noProof="1">
                <a:solidFill>
                  <a:schemeClr val="tx1"/>
                </a:solidFill>
              </a:rPr>
              <a:t>:branchingRatio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:decayEnergy</a:t>
            </a:r>
            <a:endParaRPr lang="en-US" noProof="1" sz="1400">
              <a:solidFill>
                <a:schemeClr val="tx1"/>
              </a:solidFill>
            </a:endParaRPr>
          </a:p>
        </p:txBody>
      </p:sp>
      <p:sp>
        <p:nvSpPr>
          <p:cNvPr id="112" name="header 112"/>
          <p:cNvSpPr/>
          <p:nvPr/>
        </p:nvSpPr>
        <p:spPr>
          <a:xfrm>
            <a:off x="563880" y="4931360"/>
            <a:ext cx="256032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1"/>
              <a:t>:DecayMode</a:t>
            </a:r>
          </a:p>
        </p:txBody>
      </p:sp>
      <p:sp>
        <p:nvSpPr>
          <p:cNvPr id="113" name="body 113"/>
          <p:cNvSpPr/>
          <p:nvPr/>
        </p:nvSpPr>
        <p:spPr>
          <a:xfrm>
            <a:off x="563880" y="5388560"/>
            <a:ext cx="2560320" cy="5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noProof="1">
                <a:solidFill>
                  <a:schemeClr val="tx1"/>
                </a:solidFill>
              </a:rPr>
              <a:t>:changeInAtomicNumber</a:t>
            </a:r>
            <a:endParaRPr lang="en-US" noProof="1" sz="1400">
              <a:solidFill>
                <a:schemeClr val="tx1"/>
              </a:solidFill>
            </a:endParaRPr>
          </a:p>
          <a:p>
            <a:r>
              <a:rPr lang="en-US" sz="1400" noProof="1">
                <a:solidFill>
                  <a:schemeClr val="tx1"/>
                </a:solidFill>
              </a:rPr>
              <a:t>:changeInMassNumber</a:t>
            </a:r>
            <a:endParaRPr lang="en-US" noProof="1" sz="1400">
              <a:solidFill>
                <a:schemeClr val="tx1"/>
              </a:solidFill>
            </a:endParaRPr>
          </a:p>
        </p:txBody>
      </p:sp>
      <p:cxnSp>
        <p:nvCxnSpPr>
          <p:cNvPr id="114" name="arrow 114"/>
          <p:cNvCxnSpPr>
            <a:cxnSpLocks/>
          </p:cNvCxnSpPr>
          <p:nvPr/>
        </p:nvCxnSpPr>
        <p:spPr>
          <a:xfrm>
            <a:off x="3124200" y="640080"/>
            <a:ext cx="169164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label 115"/>
          <p:cNvSpPr txBox="1"/>
          <p:nvPr/>
        </p:nvSpPr>
        <p:spPr>
          <a:xfrm>
            <a:off x="3101340" y="281526"/>
            <a:ext cx="17373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:hasNuclide</a:t>
            </a:r>
          </a:p>
        </p:txBody>
      </p:sp>
      <p:cxnSp>
        <p:nvCxnSpPr>
          <p:cNvPr id="116" name="arrow 116"/>
          <p:cNvCxnSpPr>
            <a:cxnSpLocks/>
          </p:cNvCxnSpPr>
          <p:nvPr/>
        </p:nvCxnSpPr>
        <p:spPr>
          <a:xfrm flipH="1">
            <a:off x="3124200" y="1252728"/>
            <a:ext cx="169164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label 117"/>
          <p:cNvSpPr txBox="1"/>
          <p:nvPr/>
        </p:nvSpPr>
        <p:spPr>
          <a:xfrm>
            <a:off x="3101340" y="1282728"/>
            <a:ext cx="17373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:isNuclideOf</a:t>
            </a:r>
          </a:p>
        </p:txBody>
      </p:sp>
      <p:cxnSp>
        <p:nvCxnSpPr>
          <p:cNvPr id="118" name="arrow 118"/>
          <p:cNvCxnSpPr>
            <a:cxnSpLocks/>
          </p:cNvCxnSpPr>
          <p:nvPr/>
        </p:nvCxnSpPr>
        <p:spPr>
          <a:xfrm>
            <a:off x="7376160" y="640080"/>
            <a:ext cx="169164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label 119"/>
          <p:cNvSpPr txBox="1"/>
          <p:nvPr/>
        </p:nvSpPr>
        <p:spPr>
          <a:xfrm>
            <a:off x="7353300" y="281526"/>
            <a:ext cx="17373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:hasEmission</a:t>
            </a:r>
          </a:p>
        </p:txBody>
      </p:sp>
      <p:cxnSp>
        <p:nvCxnSpPr>
          <p:cNvPr id="120" name="arrow 120"/>
          <p:cNvCxnSpPr>
            <a:cxnSpLocks/>
          </p:cNvCxnSpPr>
          <p:nvPr/>
        </p:nvCxnSpPr>
        <p:spPr>
          <a:xfrm>
            <a:off x="10347960" y="1400680"/>
            <a:ext cx="0" cy="86868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label 121"/>
          <p:cNvSpPr txBox="1"/>
          <p:nvPr/>
        </p:nvSpPr>
        <p:spPr>
          <a:xfrm>
            <a:off x="8429160" y="1665743"/>
            <a:ext cx="1828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olidFill>
                  <a:srgbClr val="C00000"/>
                </a:solidFill>
              </a:rPr>
              <a:t>:hasRadiationType</a:t>
            </a:r>
          </a:p>
        </p:txBody>
      </p:sp>
      <p:cxnSp>
        <p:nvCxnSpPr>
          <p:cNvPr id="122" name="arrow 122"/>
          <p:cNvCxnSpPr>
            <a:cxnSpLocks/>
          </p:cNvCxnSpPr>
          <p:nvPr/>
        </p:nvCxnSpPr>
        <p:spPr>
          <a:xfrm>
            <a:off x="5711952" y="4062680"/>
            <a:ext cx="0" cy="86868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label 123"/>
          <p:cNvSpPr txBox="1"/>
          <p:nvPr/>
        </p:nvSpPr>
        <p:spPr>
          <a:xfrm>
            <a:off x="3610272" y="4327743"/>
            <a:ext cx="2011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olidFill>
                  <a:srgbClr val="C00000"/>
                </a:solidFill>
              </a:rPr>
              <a:t>:hasDecayBranch</a:t>
            </a:r>
          </a:p>
        </p:txBody>
      </p:sp>
      <p:cxnSp>
        <p:nvCxnSpPr>
          <p:cNvPr id="124" name="arrow 124"/>
          <p:cNvCxnSpPr>
            <a:cxnSpLocks/>
          </p:cNvCxnSpPr>
          <p:nvPr/>
        </p:nvCxnSpPr>
        <p:spPr>
          <a:xfrm flipV="1">
            <a:off x="6480048" y="4062680"/>
            <a:ext cx="0" cy="86868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label 125"/>
          <p:cNvSpPr txBox="1"/>
          <p:nvPr/>
        </p:nvSpPr>
        <p:spPr>
          <a:xfrm>
            <a:off x="6570048" y="4327743"/>
            <a:ext cx="1828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solidFill>
                  <a:srgbClr val="C00000"/>
                </a:solidFill>
              </a:rPr>
              <a:t>:hasDecayProduct</a:t>
            </a:r>
          </a:p>
        </p:txBody>
      </p:sp>
      <p:cxnSp>
        <p:nvCxnSpPr>
          <p:cNvPr id="126" name="arrow 126"/>
          <p:cNvCxnSpPr>
            <a:cxnSpLocks/>
          </p:cNvCxnSpPr>
          <p:nvPr/>
        </p:nvCxnSpPr>
        <p:spPr>
          <a:xfrm flipH="1">
            <a:off x="3124200" y="5159960"/>
            <a:ext cx="169164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label 127"/>
          <p:cNvSpPr txBox="1"/>
          <p:nvPr/>
        </p:nvSpPr>
        <p:spPr>
          <a:xfrm>
            <a:off x="3101340" y="4801406"/>
            <a:ext cx="17373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:hasDecayMode</a:t>
            </a:r>
          </a:p>
        </p:txBody>
      </p:sp>
    </p:spTree>
    <p:extLst>
      <p:ext uri="{BB962C8B-B14F-4D97-AF65-F5344CB8AC3E}">
        <p14:creationId xmlns:p14="http://schemas.microsoft.com/office/powerpoint/2010/main" val="3616636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83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Kahn, Charles E</dc:creator>
  <cp:lastModifiedBy>Kahn, Charles E</cp:lastModifiedBy>
  <cp:revision>1</cp:revision>
  <dcterms:created xsi:type="dcterms:W3CDTF">2026-08-30T12:37:46Z</dcterms:created>
  <dcterms:modified xsi:type="dcterms:W3CDTF">2026-08-30T13:16:14Z</dcterms:modified>
</cp:coreProperties>
</file>